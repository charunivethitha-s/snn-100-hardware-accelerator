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7" r:id="rId5"/>
    <p:sldId id="260" r:id="rId6"/>
    <p:sldId id="258" r:id="rId7"/>
    <p:sldId id="262" r:id="rId8"/>
    <p:sldId id="264" r:id="rId9"/>
    <p:sldId id="267" r:id="rId10"/>
    <p:sldId id="268" r:id="rId11"/>
    <p:sldId id="266" r:id="rId12"/>
    <p:sldId id="263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9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CC68-5EDE-0C2A-DE3D-310F0BF8D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F5627-ACC0-F5B7-0A7B-BEBD748C5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164A8-3D14-A24B-AD6C-7E4A9DD9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2A176-0954-84E4-7114-865F79C3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19CC3-C840-F67A-4887-CE2615DE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ED08-F454-5D77-C194-89C9DD19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C7AFE-416C-821B-C2A5-9346313E8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B76E7-ADD5-67BB-6D8D-7CD45033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39907-3C22-0C87-AAF2-F64E908A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312D4-9509-C2E2-85E0-475F67BE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51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1069-DDEB-290F-EE11-E0968AF1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B866B-336C-4CCF-E4CB-C3C6B8FAE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6677-6303-C354-A050-1118EE38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F3A1D-69AA-D2A5-FDA9-3A34F78D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04275-9C2C-B3ED-AF6F-F532718E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37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D165A-FADC-21B2-4CEB-6949A244B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78B1-5A46-9D7F-CC0E-EEACE4A5B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4AC4F-DC2E-5A6A-FB90-AE9FC7F4E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890B8-B006-DCF3-18C6-3CAFB629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12860-855E-D9F5-561F-1A66FBE16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2C931-765D-C0E6-7108-5927908B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04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C61E0-E4C7-4FD1-658F-F78857FA2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0FEDD-4F1F-8A68-2C6C-51DC669E8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1B777-B9BD-1128-3AC4-A1402B3BE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C316F-8E05-D8E9-4AB0-D8D0D82C1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696244-A130-A650-5BD2-417EF49CB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E46BDB-BE3F-3AA7-6AFC-E13F1D19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F6E82F-4855-37E9-9B07-4E268274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7966E-E4D2-EBA3-A2E9-DEF608417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7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2BFB-7909-E05F-E4A6-B6AD34AA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C09B2-71CB-90AF-1F38-92949793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BB839-4D0F-7485-C49E-0BB7C199F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EAD2F-9115-D066-F996-22AAA8A4D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05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FED58-70DB-2E78-6FD9-7BC25A6D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630B2-B068-562E-193A-9D6797D8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7FD15-B1BA-4E26-495F-9D264E40D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84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E6E45-C581-7E89-7E47-36DC76F4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79743-9463-9B46-38BA-9666C3C85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8247B-7499-323F-09DD-FE3D541FC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CD142-368B-911D-3307-D769A725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647D-E7C8-FBC0-A970-05270A8A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684EF-2753-2F85-2ADC-D69B5AEAF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12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7B72-CD90-433E-1540-D459E849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D61B7-4B17-CC04-EBB9-0D9DBD747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C3172-2758-370B-5ABC-8C61275E1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83337-2F3B-9DED-FC3F-855E9B7F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7FF21-2DA3-BBDC-A0A8-96FE3D6C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5267B-3650-1FCC-88C4-DD915CA2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253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4CDF2-FA81-F8F5-D795-451CF7CF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A0883E-7F21-3F1B-39A4-C456C0F7C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CFE70-31D2-6E8A-14BF-559478805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7BDC3-C50A-E3D9-6325-7FFD2F688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2F1E2-19A5-258C-E697-15258D73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8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0F94F1-A5F4-21DA-E4EA-CA1C1621C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ACBC2-A68A-7339-C064-08F9FF75E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B1F7A-D73D-1014-8F8C-5AFB7CB0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DAEC4-53DE-D34E-C49B-E24C5C5FB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053FA-3BE3-E2D9-9669-82ACA59D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9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1B921-66CA-29B8-5B98-460CCB15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BFA1D-F61E-E220-AC57-9895C0F9C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E9F32-9B1B-0640-EB2E-69E38FEBA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04758-D665-4B12-B64A-7E54180B8E90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6FCB-2743-B053-BC24-2FA163FCF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742E2-4D0C-D94D-A1B7-3EFA99845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60E15-A987-474F-881D-EDCF97E78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61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47E6A-644F-BE37-B6B3-2AF2956DA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6861"/>
            <a:ext cx="9144000" cy="2387600"/>
          </a:xfrm>
        </p:spPr>
        <p:txBody>
          <a:bodyPr>
            <a:noAutofit/>
          </a:bodyPr>
          <a:lstStyle/>
          <a:p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FPGA Implementation of a 100-Neuron Spiking Neural Network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58265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96B5-C504-1AA2-6728-87C1ED31C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BAD65C-2EA4-C263-1591-8982C60BE2D5}"/>
              </a:ext>
            </a:extLst>
          </p:cNvPr>
          <p:cNvCxnSpPr/>
          <p:nvPr/>
        </p:nvCxnSpPr>
        <p:spPr>
          <a:xfrm>
            <a:off x="0" y="629905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308D141-8AFD-3A97-A0BB-7FD0C119FBE5}"/>
              </a:ext>
            </a:extLst>
          </p:cNvPr>
          <p:cNvSpPr txBox="1"/>
          <p:nvPr/>
        </p:nvSpPr>
        <p:spPr>
          <a:xfrm>
            <a:off x="4494550" y="45130"/>
            <a:ext cx="5801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BDC7F4-44C2-B14F-7D3F-5FCF99E4E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636210"/>
              </p:ext>
            </p:extLst>
          </p:nvPr>
        </p:nvGraphicFramePr>
        <p:xfrm>
          <a:off x="684552" y="922265"/>
          <a:ext cx="10822896" cy="5305830"/>
        </p:xfrm>
        <a:graphic>
          <a:graphicData uri="http://schemas.openxmlformats.org/drawingml/2006/table">
            <a:tbl>
              <a:tblPr/>
              <a:tblGrid>
                <a:gridCol w="2328471">
                  <a:extLst>
                    <a:ext uri="{9D8B030D-6E8A-4147-A177-3AD203B41FA5}">
                      <a16:colId xmlns:a16="http://schemas.microsoft.com/office/drawing/2014/main" val="27302600"/>
                    </a:ext>
                  </a:extLst>
                </a:gridCol>
                <a:gridCol w="3687580">
                  <a:extLst>
                    <a:ext uri="{9D8B030D-6E8A-4147-A177-3AD203B41FA5}">
                      <a16:colId xmlns:a16="http://schemas.microsoft.com/office/drawing/2014/main" val="3773475100"/>
                    </a:ext>
                  </a:extLst>
                </a:gridCol>
                <a:gridCol w="4806845">
                  <a:extLst>
                    <a:ext uri="{9D8B030D-6E8A-4147-A177-3AD203B41FA5}">
                      <a16:colId xmlns:a16="http://schemas.microsoft.com/office/drawing/2014/main" val="3456410729"/>
                    </a:ext>
                  </a:extLst>
                </a:gridCol>
              </a:tblGrid>
              <a:tr h="579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Neuron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 (3-100-2 Spiking)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714214"/>
                  </a:ext>
                </a:extLst>
              </a:tr>
              <a:tr h="579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Scale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Neuron total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 Neurons total (100 Hidden + 2 Output)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57037"/>
                  </a:ext>
                </a:extLst>
              </a:tr>
              <a:tr h="579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Style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parallel block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Time-Multiplexed FSM Pipeline (Advanced)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99231"/>
                  </a:ext>
                </a:extLst>
              </a:tr>
              <a:tr h="579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Type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static value / state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Spike Firing Frequency (Population Coding)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62969"/>
                  </a:ext>
                </a:extLst>
              </a:tr>
              <a:tr h="579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4-Bit Multiplier Use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only 3 times per cycle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Reused 300 times via the memory loop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208150"/>
                  </a:ext>
                </a:extLst>
              </a:tr>
              <a:tr h="579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Meaning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a single raw result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total system spikes (00 to 99)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195247"/>
                  </a:ext>
                </a:extLst>
              </a:tr>
              <a:tr h="80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Footprint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registers; no ROM/RAM required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 ROM Array required to store 300 independent weight parameters (100 X 3 )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71733"/>
                  </a:ext>
                </a:extLst>
              </a:tr>
              <a:tr h="80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Realism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basic logic gates (AND/OR); fails on non-linear data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Edge-AI Pattern Classifier; capable of complex tasks like image edge detection</a:t>
                      </a:r>
                    </a:p>
                  </a:txBody>
                  <a:tcPr marL="80780" marR="80780" marT="53853" marB="5385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918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05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4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1FE44-870B-A0A3-FEC2-AED0CDE12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446AA72-F697-7152-FAA0-87ECAB87377E}"/>
              </a:ext>
            </a:extLst>
          </p:cNvPr>
          <p:cNvSpPr/>
          <p:nvPr/>
        </p:nvSpPr>
        <p:spPr>
          <a:xfrm>
            <a:off x="674556" y="1439056"/>
            <a:ext cx="1169233" cy="91440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4F4FB09-1953-888D-A800-3CDDBBE17F65}"/>
              </a:ext>
            </a:extLst>
          </p:cNvPr>
          <p:cNvSpPr/>
          <p:nvPr/>
        </p:nvSpPr>
        <p:spPr>
          <a:xfrm>
            <a:off x="704535" y="2971800"/>
            <a:ext cx="1169233" cy="91440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3F07CF-55D6-AB9B-6171-E853CDE5E0A5}"/>
              </a:ext>
            </a:extLst>
          </p:cNvPr>
          <p:cNvSpPr/>
          <p:nvPr/>
        </p:nvSpPr>
        <p:spPr>
          <a:xfrm>
            <a:off x="704535" y="4504544"/>
            <a:ext cx="1169233" cy="91440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1F4797-28CE-6EC8-D6D8-9F8236D51539}"/>
              </a:ext>
            </a:extLst>
          </p:cNvPr>
          <p:cNvSpPr/>
          <p:nvPr/>
        </p:nvSpPr>
        <p:spPr>
          <a:xfrm>
            <a:off x="2718213" y="1262276"/>
            <a:ext cx="1628936" cy="444897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04155E-7903-1898-2FAB-6F863E6C2BF8}"/>
              </a:ext>
            </a:extLst>
          </p:cNvPr>
          <p:cNvSpPr/>
          <p:nvPr/>
        </p:nvSpPr>
        <p:spPr>
          <a:xfrm>
            <a:off x="3196649" y="4755633"/>
            <a:ext cx="672061" cy="59960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A55D13-967C-0567-3E39-9EB1B4C6D213}"/>
              </a:ext>
            </a:extLst>
          </p:cNvPr>
          <p:cNvSpPr/>
          <p:nvPr/>
        </p:nvSpPr>
        <p:spPr>
          <a:xfrm>
            <a:off x="3216625" y="2498916"/>
            <a:ext cx="672061" cy="59960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5EDF68-C55C-A16C-9A6F-D77A3F6DD7D6}"/>
              </a:ext>
            </a:extLst>
          </p:cNvPr>
          <p:cNvSpPr/>
          <p:nvPr/>
        </p:nvSpPr>
        <p:spPr>
          <a:xfrm>
            <a:off x="3216626" y="3475846"/>
            <a:ext cx="672061" cy="59960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D43E56-C006-6D7F-0507-E59944A15D61}"/>
              </a:ext>
            </a:extLst>
          </p:cNvPr>
          <p:cNvSpPr/>
          <p:nvPr/>
        </p:nvSpPr>
        <p:spPr>
          <a:xfrm>
            <a:off x="3196650" y="1577715"/>
            <a:ext cx="672061" cy="59960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3A11F4-EC73-94DA-B2E9-29269AA6D677}"/>
                  </a:ext>
                </a:extLst>
              </p:cNvPr>
              <p:cNvSpPr txBox="1"/>
              <p:nvPr/>
            </p:nvSpPr>
            <p:spPr>
              <a:xfrm>
                <a:off x="4671604" y="2771934"/>
                <a:ext cx="2457449" cy="829394"/>
              </a:xfrm>
              <a:prstGeom prst="rect">
                <a:avLst/>
              </a:prstGeom>
              <a:solidFill>
                <a:schemeClr val="bg1">
                  <a:lumMod val="65000"/>
                  <a:alpha val="36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9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GB" sz="1900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IN" sz="19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9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19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9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sz="19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sSub>
                            <m:sSubPr>
                              <m:ctrlPr>
                                <a:rPr lang="en-IN" sz="19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9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GB" sz="19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9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9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GB" sz="19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GB" sz="19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900" b="1" i="1" smtClean="0">
                          <a:latin typeface="Cambria Math" panose="02040503050406030204" pitchFamily="18" charset="0"/>
                        </a:rPr>
                        <m:t>𝑩𝒊𝒂𝒔</m:t>
                      </m:r>
                    </m:oMath>
                  </m:oMathPara>
                </a14:m>
                <a:endParaRPr lang="en-IN" sz="19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3A11F4-EC73-94DA-B2E9-29269AA6D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604" y="2771934"/>
                <a:ext cx="2457449" cy="8293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A2DD03A-0205-EC87-A93B-A5047355406E}"/>
              </a:ext>
            </a:extLst>
          </p:cNvPr>
          <p:cNvSpPr txBox="1"/>
          <p:nvPr/>
        </p:nvSpPr>
        <p:spPr>
          <a:xfrm>
            <a:off x="7587519" y="1079103"/>
            <a:ext cx="2578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Spike 1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DF4E4F-1ED7-E4A2-30A0-D17038F5E401}"/>
              </a:ext>
            </a:extLst>
          </p:cNvPr>
          <p:cNvSpPr txBox="1"/>
          <p:nvPr/>
        </p:nvSpPr>
        <p:spPr>
          <a:xfrm>
            <a:off x="7587518" y="1903751"/>
            <a:ext cx="2578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Spike 2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D81C0-4187-E6BA-EA59-9DC005A5F06D}"/>
              </a:ext>
            </a:extLst>
          </p:cNvPr>
          <p:cNvSpPr txBox="1"/>
          <p:nvPr/>
        </p:nvSpPr>
        <p:spPr>
          <a:xfrm>
            <a:off x="7587517" y="2973881"/>
            <a:ext cx="2578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Spike 3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0BD897-DA8E-E0A7-FBBD-C9CC2114AED8}"/>
              </a:ext>
            </a:extLst>
          </p:cNvPr>
          <p:cNvSpPr txBox="1"/>
          <p:nvPr/>
        </p:nvSpPr>
        <p:spPr>
          <a:xfrm>
            <a:off x="7587517" y="3844619"/>
            <a:ext cx="2578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7BD302-49FE-A0D9-F388-C1B3EBBA9B46}"/>
              </a:ext>
            </a:extLst>
          </p:cNvPr>
          <p:cNvSpPr txBox="1"/>
          <p:nvPr/>
        </p:nvSpPr>
        <p:spPr>
          <a:xfrm>
            <a:off x="7587517" y="4855060"/>
            <a:ext cx="2578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Spike 100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C27377-1301-DD79-0524-06A443F8A7B0}"/>
              </a:ext>
            </a:extLst>
          </p:cNvPr>
          <p:cNvCxnSpPr>
            <a:cxnSpLocks/>
          </p:cNvCxnSpPr>
          <p:nvPr/>
        </p:nvCxnSpPr>
        <p:spPr>
          <a:xfrm>
            <a:off x="8833591" y="711960"/>
            <a:ext cx="0" cy="5796338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C5DCDE5-B6F9-B96F-A06D-E900BDFDB2E9}"/>
              </a:ext>
            </a:extLst>
          </p:cNvPr>
          <p:cNvSpPr/>
          <p:nvPr/>
        </p:nvSpPr>
        <p:spPr>
          <a:xfrm>
            <a:off x="10165818" y="1697136"/>
            <a:ext cx="1169233" cy="91440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0779FF-3874-A8C9-78CD-160D6F33D172}"/>
              </a:ext>
            </a:extLst>
          </p:cNvPr>
          <p:cNvSpPr/>
          <p:nvPr/>
        </p:nvSpPr>
        <p:spPr>
          <a:xfrm>
            <a:off x="10165821" y="4597915"/>
            <a:ext cx="1169233" cy="91440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3C2629-4896-E1A4-0E27-99977BF3970E}"/>
              </a:ext>
            </a:extLst>
          </p:cNvPr>
          <p:cNvSpPr txBox="1"/>
          <p:nvPr/>
        </p:nvSpPr>
        <p:spPr>
          <a:xfrm>
            <a:off x="434713" y="668219"/>
            <a:ext cx="21585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  <a:endParaRPr lang="en-IN" sz="25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98ECBD-1840-DE5F-0FF3-39412CBB29C4}"/>
              </a:ext>
            </a:extLst>
          </p:cNvPr>
          <p:cNvSpPr txBox="1"/>
          <p:nvPr/>
        </p:nvSpPr>
        <p:spPr>
          <a:xfrm>
            <a:off x="2718213" y="641340"/>
            <a:ext cx="21585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Layer</a:t>
            </a:r>
            <a:endParaRPr lang="en-IN" sz="25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A3AA42-0797-83E0-588C-48D6FBBC7A08}"/>
              </a:ext>
            </a:extLst>
          </p:cNvPr>
          <p:cNvSpPr txBox="1"/>
          <p:nvPr/>
        </p:nvSpPr>
        <p:spPr>
          <a:xfrm>
            <a:off x="9671141" y="627006"/>
            <a:ext cx="21585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  <a:endParaRPr lang="en-IN" sz="25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001390-6939-C9C5-4B66-C6E076D9B270}"/>
                  </a:ext>
                </a:extLst>
              </p:cNvPr>
              <p:cNvSpPr txBox="1"/>
              <p:nvPr/>
            </p:nvSpPr>
            <p:spPr>
              <a:xfrm>
                <a:off x="953115" y="1592546"/>
                <a:ext cx="6795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001390-6939-C9C5-4B66-C6E076D9B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15" y="1592546"/>
                <a:ext cx="67955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7FCE16C-0211-0C0D-B265-00732398CFC8}"/>
                  </a:ext>
                </a:extLst>
              </p:cNvPr>
              <p:cNvSpPr txBox="1"/>
              <p:nvPr/>
            </p:nvSpPr>
            <p:spPr>
              <a:xfrm>
                <a:off x="953115" y="3124869"/>
                <a:ext cx="6795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7FCE16C-0211-0C0D-B265-00732398C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15" y="3124869"/>
                <a:ext cx="67955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3D1EB0-37BC-51FA-7027-36E356715CD6}"/>
                  </a:ext>
                </a:extLst>
              </p:cNvPr>
              <p:cNvSpPr txBox="1"/>
              <p:nvPr/>
            </p:nvSpPr>
            <p:spPr>
              <a:xfrm>
                <a:off x="953115" y="4597915"/>
                <a:ext cx="6795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3D1EB0-37BC-51FA-7027-36E356715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15" y="4597915"/>
                <a:ext cx="67955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0FF47E91-159C-2191-5561-D57C75D22919}"/>
              </a:ext>
            </a:extLst>
          </p:cNvPr>
          <p:cNvSpPr txBox="1"/>
          <p:nvPr/>
        </p:nvSpPr>
        <p:spPr>
          <a:xfrm>
            <a:off x="3335309" y="1577715"/>
            <a:ext cx="257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0EB0D3-D612-28BB-0F55-3E7629BDC010}"/>
              </a:ext>
            </a:extLst>
          </p:cNvPr>
          <p:cNvSpPr txBox="1"/>
          <p:nvPr/>
        </p:nvSpPr>
        <p:spPr>
          <a:xfrm>
            <a:off x="3395888" y="3506106"/>
            <a:ext cx="257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83989A-8196-1B50-C5C3-A5C674DEB10D}"/>
              </a:ext>
            </a:extLst>
          </p:cNvPr>
          <p:cNvSpPr txBox="1"/>
          <p:nvPr/>
        </p:nvSpPr>
        <p:spPr>
          <a:xfrm>
            <a:off x="3365288" y="2537783"/>
            <a:ext cx="257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5819B8-24EB-0B13-9EA9-89BB16909F99}"/>
              </a:ext>
            </a:extLst>
          </p:cNvPr>
          <p:cNvSpPr txBox="1"/>
          <p:nvPr/>
        </p:nvSpPr>
        <p:spPr>
          <a:xfrm>
            <a:off x="3162917" y="4757065"/>
            <a:ext cx="948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E60C0E-1312-42D6-5461-B0C18E1BB84C}"/>
              </a:ext>
            </a:extLst>
          </p:cNvPr>
          <p:cNvSpPr txBox="1"/>
          <p:nvPr/>
        </p:nvSpPr>
        <p:spPr>
          <a:xfrm>
            <a:off x="3226618" y="4140357"/>
            <a:ext cx="94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…..</a:t>
            </a:r>
            <a:endParaRPr lang="en-IN" sz="24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F0582FD-B590-5406-2578-E8D4E3D5BA41}"/>
              </a:ext>
            </a:extLst>
          </p:cNvPr>
          <p:cNvCxnSpPr>
            <a:stCxn id="2" idx="6"/>
            <a:endCxn id="10" idx="2"/>
          </p:cNvCxnSpPr>
          <p:nvPr/>
        </p:nvCxnSpPr>
        <p:spPr>
          <a:xfrm flipV="1">
            <a:off x="1843789" y="1877518"/>
            <a:ext cx="1352861" cy="1873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B2CC7B-2A08-2BEF-3A83-AE0086440935}"/>
              </a:ext>
            </a:extLst>
          </p:cNvPr>
          <p:cNvCxnSpPr>
            <a:cxnSpLocks/>
            <a:stCxn id="2" idx="6"/>
            <a:endCxn id="7" idx="1"/>
          </p:cNvCxnSpPr>
          <p:nvPr/>
        </p:nvCxnSpPr>
        <p:spPr>
          <a:xfrm>
            <a:off x="1843789" y="1896256"/>
            <a:ext cx="1471257" cy="69047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2E9890A-031F-AFA8-22E9-C8AECB406B43}"/>
              </a:ext>
            </a:extLst>
          </p:cNvPr>
          <p:cNvCxnSpPr>
            <a:cxnSpLocks/>
            <a:stCxn id="2" idx="6"/>
            <a:endCxn id="8" idx="1"/>
          </p:cNvCxnSpPr>
          <p:nvPr/>
        </p:nvCxnSpPr>
        <p:spPr>
          <a:xfrm>
            <a:off x="1843789" y="1896256"/>
            <a:ext cx="1471258" cy="16674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3786238-B08C-E7E4-2171-B08C5EFC3F57}"/>
              </a:ext>
            </a:extLst>
          </p:cNvPr>
          <p:cNvCxnSpPr>
            <a:cxnSpLocks/>
            <a:stCxn id="3" idx="6"/>
            <a:endCxn id="10" idx="3"/>
          </p:cNvCxnSpPr>
          <p:nvPr/>
        </p:nvCxnSpPr>
        <p:spPr>
          <a:xfrm flipV="1">
            <a:off x="1873768" y="2089511"/>
            <a:ext cx="1421303" cy="133948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10B619C-EAEC-03DC-E92D-0C5CB8814FA3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1873768" y="3429000"/>
            <a:ext cx="1342858" cy="34664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DBD6735-4C25-9FAE-6B0F-E6AF775AD86A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1873768" y="3429000"/>
            <a:ext cx="1506509" cy="132663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6C7BD63-66E1-4D15-CBF6-DD3D3CD5BBB1}"/>
              </a:ext>
            </a:extLst>
          </p:cNvPr>
          <p:cNvCxnSpPr>
            <a:cxnSpLocks/>
          </p:cNvCxnSpPr>
          <p:nvPr/>
        </p:nvCxnSpPr>
        <p:spPr>
          <a:xfrm flipV="1">
            <a:off x="1843463" y="2154336"/>
            <a:ext cx="1564908" cy="290077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1E4E091-0CC2-FF48-03D2-F4578BC92A13}"/>
              </a:ext>
            </a:extLst>
          </p:cNvPr>
          <p:cNvCxnSpPr>
            <a:cxnSpLocks/>
            <a:stCxn id="4" idx="6"/>
            <a:endCxn id="7" idx="3"/>
          </p:cNvCxnSpPr>
          <p:nvPr/>
        </p:nvCxnSpPr>
        <p:spPr>
          <a:xfrm flipV="1">
            <a:off x="1873768" y="3010712"/>
            <a:ext cx="1441278" cy="19510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6D409C2-AF28-C623-12EC-40F6457100EF}"/>
              </a:ext>
            </a:extLst>
          </p:cNvPr>
          <p:cNvCxnSpPr>
            <a:cxnSpLocks/>
            <a:stCxn id="4" idx="6"/>
            <a:endCxn id="8" idx="3"/>
          </p:cNvCxnSpPr>
          <p:nvPr/>
        </p:nvCxnSpPr>
        <p:spPr>
          <a:xfrm flipV="1">
            <a:off x="1873768" y="3987642"/>
            <a:ext cx="1441279" cy="97410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4458161-1E5D-5D07-7269-C0F65D212740}"/>
              </a:ext>
            </a:extLst>
          </p:cNvPr>
          <p:cNvCxnSpPr>
            <a:cxnSpLocks/>
            <a:stCxn id="4" idx="6"/>
            <a:endCxn id="32" idx="1"/>
          </p:cNvCxnSpPr>
          <p:nvPr/>
        </p:nvCxnSpPr>
        <p:spPr>
          <a:xfrm>
            <a:off x="1873768" y="4961744"/>
            <a:ext cx="1289149" cy="569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D626BDF-7B70-8673-1741-0EC78E86C51A}"/>
              </a:ext>
            </a:extLst>
          </p:cNvPr>
          <p:cNvCxnSpPr>
            <a:cxnSpLocks/>
            <a:stCxn id="2" idx="6"/>
          </p:cNvCxnSpPr>
          <p:nvPr/>
        </p:nvCxnSpPr>
        <p:spPr>
          <a:xfrm>
            <a:off x="1843789" y="1896256"/>
            <a:ext cx="1397972" cy="29940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F43179E-821D-4C71-13AD-4269B06356FE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3868711" y="1877518"/>
            <a:ext cx="858482" cy="88173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EE3D5C4-BB15-FDD3-31B3-B5A5849602C0}"/>
              </a:ext>
            </a:extLst>
          </p:cNvPr>
          <p:cNvCxnSpPr>
            <a:cxnSpLocks/>
            <a:stCxn id="7" idx="6"/>
            <a:endCxn id="11" idx="1"/>
          </p:cNvCxnSpPr>
          <p:nvPr/>
        </p:nvCxnSpPr>
        <p:spPr>
          <a:xfrm>
            <a:off x="3888686" y="2798719"/>
            <a:ext cx="782918" cy="38791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403C65D-9B7F-3FC1-0BBB-D4A16E082175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3888687" y="3374497"/>
            <a:ext cx="838506" cy="40115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52DA6D3-E53E-8EC8-FDA8-1B47A44CAD33}"/>
              </a:ext>
            </a:extLst>
          </p:cNvPr>
          <p:cNvCxnSpPr>
            <a:cxnSpLocks/>
          </p:cNvCxnSpPr>
          <p:nvPr/>
        </p:nvCxnSpPr>
        <p:spPr>
          <a:xfrm flipV="1">
            <a:off x="3868710" y="3597082"/>
            <a:ext cx="918614" cy="142159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E28EB8F-0D03-038B-6750-8B1419892D60}"/>
              </a:ext>
            </a:extLst>
          </p:cNvPr>
          <p:cNvCxnSpPr>
            <a:cxnSpLocks/>
          </p:cNvCxnSpPr>
          <p:nvPr/>
        </p:nvCxnSpPr>
        <p:spPr>
          <a:xfrm flipV="1">
            <a:off x="6850644" y="1439056"/>
            <a:ext cx="783312" cy="133197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8953D1E-94AC-2F21-8715-D9779E549EF9}"/>
              </a:ext>
            </a:extLst>
          </p:cNvPr>
          <p:cNvCxnSpPr>
            <a:cxnSpLocks/>
          </p:cNvCxnSpPr>
          <p:nvPr/>
        </p:nvCxnSpPr>
        <p:spPr>
          <a:xfrm flipV="1">
            <a:off x="7129053" y="2353456"/>
            <a:ext cx="504903" cy="63921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47BD324-49FF-66F3-1B65-85B8F6674F68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129053" y="3204714"/>
            <a:ext cx="458464" cy="1132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F22E29C-E274-BED7-E482-34F6498C051C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147342" y="3470330"/>
            <a:ext cx="440175" cy="60512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9873D5C2-E73A-61B2-C1D3-B592FF344BDE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790513" y="3563175"/>
            <a:ext cx="797004" cy="149194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243718B-6A27-3407-2C51-8C89E7BE21A2}"/>
              </a:ext>
            </a:extLst>
          </p:cNvPr>
          <p:cNvCxnSpPr>
            <a:cxnSpLocks/>
          </p:cNvCxnSpPr>
          <p:nvPr/>
        </p:nvCxnSpPr>
        <p:spPr>
          <a:xfrm>
            <a:off x="8876858" y="1367297"/>
            <a:ext cx="1413946" cy="5241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C1E1FF4A-2FA5-8C6E-E2AF-049175563ADB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8876671" y="2154336"/>
            <a:ext cx="1289147" cy="1853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71A4671-80F8-ED33-86A9-873F6840E836}"/>
              </a:ext>
            </a:extLst>
          </p:cNvPr>
          <p:cNvCxnSpPr>
            <a:cxnSpLocks/>
          </p:cNvCxnSpPr>
          <p:nvPr/>
        </p:nvCxnSpPr>
        <p:spPr>
          <a:xfrm flipV="1">
            <a:off x="8844813" y="2428022"/>
            <a:ext cx="1445991" cy="88131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D8E66B6-9C8F-51E3-4906-7916FA1F05C2}"/>
              </a:ext>
            </a:extLst>
          </p:cNvPr>
          <p:cNvCxnSpPr>
            <a:cxnSpLocks/>
          </p:cNvCxnSpPr>
          <p:nvPr/>
        </p:nvCxnSpPr>
        <p:spPr>
          <a:xfrm flipV="1">
            <a:off x="8833591" y="2537783"/>
            <a:ext cx="1585189" cy="257891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D2EFEDC-5DFF-5FC7-BFFA-5840DF22FA45}"/>
              </a:ext>
            </a:extLst>
          </p:cNvPr>
          <p:cNvCxnSpPr>
            <a:cxnSpLocks/>
          </p:cNvCxnSpPr>
          <p:nvPr/>
        </p:nvCxnSpPr>
        <p:spPr>
          <a:xfrm>
            <a:off x="8876477" y="1367297"/>
            <a:ext cx="1677319" cy="325694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1C9205E-D175-F641-9399-4860E7F66858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8844813" y="2133946"/>
            <a:ext cx="1492238" cy="259788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9E8C2F4-32E5-B2C2-7B67-D508E1FF66C9}"/>
              </a:ext>
            </a:extLst>
          </p:cNvPr>
          <p:cNvCxnSpPr>
            <a:cxnSpLocks/>
          </p:cNvCxnSpPr>
          <p:nvPr/>
        </p:nvCxnSpPr>
        <p:spPr>
          <a:xfrm>
            <a:off x="8831235" y="3335242"/>
            <a:ext cx="1361741" cy="156895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06634F95-706A-40BD-E6BB-2EC0C3ECFBDE}"/>
              </a:ext>
            </a:extLst>
          </p:cNvPr>
          <p:cNvCxnSpPr/>
          <p:nvPr/>
        </p:nvCxnSpPr>
        <p:spPr>
          <a:xfrm flipV="1">
            <a:off x="8812965" y="5105986"/>
            <a:ext cx="1352861" cy="1873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2B51BBBC-41AD-4186-E2BF-086FF84B9879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832568" y="1665525"/>
            <a:ext cx="1462503" cy="24759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01A7A61F-89EB-A6F5-6403-58F6946CAB1F}"/>
              </a:ext>
            </a:extLst>
          </p:cNvPr>
          <p:cNvSpPr txBox="1"/>
          <p:nvPr/>
        </p:nvSpPr>
        <p:spPr>
          <a:xfrm>
            <a:off x="4980648" y="4290159"/>
            <a:ext cx="1903415" cy="369332"/>
          </a:xfrm>
          <a:prstGeom prst="rect">
            <a:avLst/>
          </a:prstGeom>
          <a:solidFill>
            <a:schemeClr val="bg1">
              <a:lumMod val="65000"/>
              <a:alpha val="36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&gt; Threshold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5F3F7C8-4153-3BB5-9696-4AFE58F3AD56}"/>
              </a:ext>
            </a:extLst>
          </p:cNvPr>
          <p:cNvCxnSpPr>
            <a:cxnSpLocks/>
          </p:cNvCxnSpPr>
          <p:nvPr/>
        </p:nvCxnSpPr>
        <p:spPr>
          <a:xfrm flipV="1">
            <a:off x="5900328" y="3614632"/>
            <a:ext cx="0" cy="67552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8A2100-3AD5-2B34-F2F8-F107BE5E1184}"/>
                  </a:ext>
                </a:extLst>
              </p:cNvPr>
              <p:cNvSpPr txBox="1"/>
              <p:nvPr/>
            </p:nvSpPr>
            <p:spPr>
              <a:xfrm>
                <a:off x="10415860" y="1861948"/>
                <a:ext cx="6795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8A2100-3AD5-2B34-F2F8-F107BE5E1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860" y="1861948"/>
                <a:ext cx="67955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F02227-DCD8-7F52-7EDB-E23F6F2EA450}"/>
                  </a:ext>
                </a:extLst>
              </p:cNvPr>
              <p:cNvSpPr txBox="1"/>
              <p:nvPr/>
            </p:nvSpPr>
            <p:spPr>
              <a:xfrm>
                <a:off x="10466342" y="4695510"/>
                <a:ext cx="6795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F02227-DCD8-7F52-7EDB-E23F6F2EA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6342" y="4695510"/>
                <a:ext cx="67955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04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58462-92EE-3F43-3B6C-AEF12D44F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DDF958-D334-5F27-9034-DFC95F0ED807}"/>
              </a:ext>
            </a:extLst>
          </p:cNvPr>
          <p:cNvCxnSpPr/>
          <p:nvPr/>
        </p:nvCxnSpPr>
        <p:spPr>
          <a:xfrm>
            <a:off x="0" y="711158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EF20B64-E56A-6491-6895-D8F0F7260236}"/>
              </a:ext>
            </a:extLst>
          </p:cNvPr>
          <p:cNvSpPr txBox="1"/>
          <p:nvPr/>
        </p:nvSpPr>
        <p:spPr>
          <a:xfrm>
            <a:off x="3964897" y="67700"/>
            <a:ext cx="5801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1A1BEF-A3FB-41E9-E4BD-593A21DAFE91}"/>
                  </a:ext>
                </a:extLst>
              </p:cNvPr>
              <p:cNvSpPr txBox="1"/>
              <p:nvPr/>
            </p:nvSpPr>
            <p:spPr>
              <a:xfrm>
                <a:off x="479686" y="493804"/>
                <a:ext cx="12192000" cy="6370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Input Layer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↓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Hidden Layer (100 Neurons)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↓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Output Layer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Inputs: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1 (x0) , Input 2 (x1) , Input 3 (x2) 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Outputs: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output_neuron_0, output_neuron_1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Hidden Layer (100 Neurons):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neuron computes: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Where: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neuron weights. 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bias. 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neuron activation value.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1A1BEF-A3FB-41E9-E4BD-593A21DAF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86" y="493804"/>
                <a:ext cx="12192000" cy="6370975"/>
              </a:xfrm>
              <a:prstGeom prst="rect">
                <a:avLst/>
              </a:prstGeom>
              <a:blipFill>
                <a:blip r:embed="rId2"/>
                <a:stretch>
                  <a:fillRect l="-7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571CF89-120B-9455-67A5-D257505A726D}"/>
              </a:ext>
            </a:extLst>
          </p:cNvPr>
          <p:cNvSpPr/>
          <p:nvPr/>
        </p:nvSpPr>
        <p:spPr>
          <a:xfrm>
            <a:off x="4189750" y="831397"/>
            <a:ext cx="4032354" cy="2098614"/>
          </a:xfrm>
          <a:prstGeom prst="rect">
            <a:avLst/>
          </a:prstGeom>
          <a:solidFill>
            <a:schemeClr val="accent5">
              <a:lumMod val="60000"/>
              <a:lumOff val="40000"/>
              <a:alpha val="1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58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C2CD3-4E29-C25B-DDE0-6D4431B4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0D9598E-0699-5FFB-00DF-85900D5A6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8128"/>
          <a:stretch>
            <a:fillRect/>
          </a:stretch>
        </p:blipFill>
        <p:spPr>
          <a:xfrm>
            <a:off x="952500" y="584617"/>
            <a:ext cx="10260143" cy="592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25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1D324-DDD3-7246-311B-4BFA5E46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C86C63-520C-4EB4-0BA0-B6444AE72DAC}"/>
              </a:ext>
            </a:extLst>
          </p:cNvPr>
          <p:cNvCxnSpPr/>
          <p:nvPr/>
        </p:nvCxnSpPr>
        <p:spPr>
          <a:xfrm>
            <a:off x="0" y="559182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D1C4D8-DEE8-A1AA-015D-F5A641E1EF27}"/>
              </a:ext>
            </a:extLst>
          </p:cNvPr>
          <p:cNvSpPr txBox="1"/>
          <p:nvPr/>
        </p:nvSpPr>
        <p:spPr>
          <a:xfrm>
            <a:off x="3735049" y="91536"/>
            <a:ext cx="5801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OVERVIEW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BA190C-AA9E-8420-895D-8ACF20A98B6E}"/>
                  </a:ext>
                </a:extLst>
              </p:cNvPr>
              <p:cNvSpPr txBox="1"/>
              <p:nvPr/>
            </p:nvSpPr>
            <p:spPr>
              <a:xfrm>
                <a:off x="194872" y="678947"/>
                <a:ext cx="11802256" cy="6545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network receives </a:t>
                </a:r>
                <a:r>
                  <a:rPr lang="en-IN" sz="215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three input signals</a:t>
                </a: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(x_0), (x_1), and (x_2).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1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input is connected to </a:t>
                </a:r>
                <a:r>
                  <a:rPr lang="en-IN" sz="215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100 hidden neurons</a:t>
                </a: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every hidden neuron has its own set of weights and bias.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1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hidden neuron computes a weighted sum: </a:t>
                </a:r>
                <a14:m>
                  <m:oMath xmlns:m="http://schemas.openxmlformats.org/officeDocument/2006/math">
                    <m:r>
                      <a:rPr lang="en-GB" sz="215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sz="215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IN" sz="21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1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1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21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15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IN" sz="21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sz="21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Bias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1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neuron generates a spike based on a threshold condition:</a:t>
                </a:r>
                <a:b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spike generated</a:t>
                </a:r>
                <a:b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1, if S &gt; Threshold</a:t>
                </a:r>
                <a:b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0, if S &lt;   Threshold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1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spikes from all 100 hidden neurons are accumulated to obtain the total spike count:</a:t>
                </a:r>
              </a:p>
              <a:p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</a:t>
                </a:r>
              </a:p>
              <a:p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</a:t>
                </a:r>
                <a:r>
                  <a:rPr lang="en-IN" sz="215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Spike_Count</a:t>
                </a: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15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15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𝑠𝑝𝑖𝑘𝑒</m:t>
                        </m:r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sz="2150" b="0" i="1" smtClean="0">
                            <a:latin typeface="Cambria Math" panose="02040503050406030204" pitchFamily="18" charset="0"/>
                          </a:rPr>
                          <m:t>𝑔𝑒𝑛𝑒𝑟𝑎𝑡𝑒𝑑</m:t>
                        </m:r>
                      </m:e>
                    </m:nary>
                  </m:oMath>
                </a14:m>
                <a:endParaRPr lang="en-IN" sz="21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1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total spike activity is used to generate the two output neurons (output_neuron_0 and output_neuron_1) and is simultaneously displayed on the </a:t>
                </a:r>
                <a:r>
                  <a:rPr lang="en-IN" sz="215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Basys</a:t>
                </a:r>
                <a:r>
                  <a:rPr lang="en-IN" sz="2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seven-segment display.</a:t>
                </a:r>
              </a:p>
              <a:p>
                <a:endParaRPr lang="en-IN" sz="21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BA190C-AA9E-8420-895D-8ACF20A98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72" y="678947"/>
                <a:ext cx="11802256" cy="6545703"/>
              </a:xfrm>
              <a:prstGeom prst="rect">
                <a:avLst/>
              </a:prstGeom>
              <a:blipFill>
                <a:blip r:embed="rId2"/>
                <a:stretch>
                  <a:fillRect l="-568" t="-559" r="-10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213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C596-E078-D4E3-09CC-1FA41AAD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ACFB4E-AB1B-7D8C-97FC-DAA3D55554A4}"/>
              </a:ext>
            </a:extLst>
          </p:cNvPr>
          <p:cNvCxnSpPr/>
          <p:nvPr/>
        </p:nvCxnSpPr>
        <p:spPr>
          <a:xfrm>
            <a:off x="0" y="933936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D78125-FD8D-82D4-C8C0-0AB35D78B9FA}"/>
              </a:ext>
            </a:extLst>
          </p:cNvPr>
          <p:cNvSpPr txBox="1"/>
          <p:nvPr/>
        </p:nvSpPr>
        <p:spPr>
          <a:xfrm>
            <a:off x="3824991" y="232428"/>
            <a:ext cx="5801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FPGA IMPLEMENTATION</a:t>
            </a:r>
            <a:endParaRPr lang="en-IN" sz="2800" b="1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F3BE33-E5A5-0E26-4572-E4715F27B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839" y="1259174"/>
            <a:ext cx="8679305" cy="496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3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D4197-542A-195A-C3E6-48E1FA9F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25C4EF-1F34-DD91-1E9B-07619F539E46}"/>
              </a:ext>
            </a:extLst>
          </p:cNvPr>
          <p:cNvCxnSpPr/>
          <p:nvPr/>
        </p:nvCxnSpPr>
        <p:spPr>
          <a:xfrm>
            <a:off x="0" y="559182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EAF4D78-54A9-62C3-E88E-0B7E50D18DFA}"/>
              </a:ext>
            </a:extLst>
          </p:cNvPr>
          <p:cNvSpPr txBox="1"/>
          <p:nvPr/>
        </p:nvSpPr>
        <p:spPr>
          <a:xfrm>
            <a:off x="4484557" y="37635"/>
            <a:ext cx="5801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ANALYSIS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F32F46-1EBC-485D-FC98-B960F0185F4B}"/>
              </a:ext>
            </a:extLst>
          </p:cNvPr>
          <p:cNvSpPr txBox="1"/>
          <p:nvPr/>
        </p:nvSpPr>
        <p:spPr>
          <a:xfrm>
            <a:off x="194872" y="993740"/>
            <a:ext cx="118022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Ultra-Low Consumption: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draws only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total, which is less than a tenth of a watt.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Dominance: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88% of the active (dynamic) power is spent driving the physical pins for your 7-segment display and LEDs, while the internal neuron math takes almost nothing.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Performance: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chip runs at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25.5°C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(virtually room temperature), meaning it will never overheat.</a:t>
            </a:r>
          </a:p>
        </p:txBody>
      </p:sp>
    </p:spTree>
    <p:extLst>
      <p:ext uri="{BB962C8B-B14F-4D97-AF65-F5344CB8AC3E}">
        <p14:creationId xmlns:p14="http://schemas.microsoft.com/office/powerpoint/2010/main" val="416923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91BD9-5C89-4BCA-5653-93DDE307B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A99329-506B-0278-5697-D902BE0F955A}"/>
              </a:ext>
            </a:extLst>
          </p:cNvPr>
          <p:cNvCxnSpPr/>
          <p:nvPr/>
        </p:nvCxnSpPr>
        <p:spPr>
          <a:xfrm>
            <a:off x="0" y="1068848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ABA9279-56B5-8B61-5343-887C88E9B7F8}"/>
              </a:ext>
            </a:extLst>
          </p:cNvPr>
          <p:cNvSpPr txBox="1"/>
          <p:nvPr/>
        </p:nvSpPr>
        <p:spPr>
          <a:xfrm>
            <a:off x="3914930" y="322449"/>
            <a:ext cx="5801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UTILIZATION ANALYSIS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6B8859-60EB-D413-2F83-060F1A183C57}"/>
              </a:ext>
            </a:extLst>
          </p:cNvPr>
          <p:cNvSpPr txBox="1"/>
          <p:nvPr/>
        </p:nvSpPr>
        <p:spPr>
          <a:xfrm>
            <a:off x="624590" y="1638317"/>
            <a:ext cx="109428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Tiny Resource Footprint: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entire project uses just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162 LUTs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(logic gates)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 Registers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(storage cells).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Time-Multiplexing Proof: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your FSM loops a single physical neuron block 100 times instead of building 100 separate hardware neurons, the design takes up less than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1% of the available chip space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444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95B1-B845-1EEF-424D-FE3C953F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581C67-946C-5A34-B613-D70885999EC3}"/>
              </a:ext>
            </a:extLst>
          </p:cNvPr>
          <p:cNvCxnSpPr/>
          <p:nvPr/>
        </p:nvCxnSpPr>
        <p:spPr>
          <a:xfrm>
            <a:off x="0" y="1068848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8368E1-419A-79F9-AD8A-8A75767B528A}"/>
              </a:ext>
            </a:extLst>
          </p:cNvPr>
          <p:cNvSpPr txBox="1"/>
          <p:nvPr/>
        </p:nvSpPr>
        <p:spPr>
          <a:xfrm>
            <a:off x="3914930" y="322449"/>
            <a:ext cx="5801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ANALYSIS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AAC529-C323-8E4B-C319-06D5ECEFD424}"/>
              </a:ext>
            </a:extLst>
          </p:cNvPr>
          <p:cNvSpPr txBox="1"/>
          <p:nvPr/>
        </p:nvSpPr>
        <p:spPr>
          <a:xfrm>
            <a:off x="624590" y="1638317"/>
            <a:ext cx="109428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Timing: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failures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data corruption risks 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TNS = 0.000 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Margin: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Worst Negative Slack is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+6.408 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Since the clock allows 10 ns for calculations, your circuits finish their math in just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3.592 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—meaning your network runs nearly 3 times faster than required.</a:t>
            </a:r>
          </a:p>
        </p:txBody>
      </p:sp>
    </p:spTree>
    <p:extLst>
      <p:ext uri="{BB962C8B-B14F-4D97-AF65-F5344CB8AC3E}">
        <p14:creationId xmlns:p14="http://schemas.microsoft.com/office/powerpoint/2010/main" val="705215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FF411-4924-8BB0-1E1D-C34F5034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0D353D-2D03-F073-3282-C38802687BD4}"/>
              </a:ext>
            </a:extLst>
          </p:cNvPr>
          <p:cNvCxnSpPr/>
          <p:nvPr/>
        </p:nvCxnSpPr>
        <p:spPr>
          <a:xfrm>
            <a:off x="0" y="559182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F0B5917-140B-8779-06EE-06DC1E10E040}"/>
              </a:ext>
            </a:extLst>
          </p:cNvPr>
          <p:cNvSpPr txBox="1"/>
          <p:nvPr/>
        </p:nvSpPr>
        <p:spPr>
          <a:xfrm>
            <a:off x="4484557" y="37635"/>
            <a:ext cx="5801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678CAC-BB51-AFE6-7EEE-90F5FC09CB8D}"/>
                  </a:ext>
                </a:extLst>
              </p:cNvPr>
              <p:cNvSpPr txBox="1"/>
              <p:nvPr/>
            </p:nvSpPr>
            <p:spPr>
              <a:xfrm>
                <a:off x="194872" y="678947"/>
                <a:ext cx="11802256" cy="6740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Input: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x0 = 4, x1 = 4, x2 = 4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three input values are applied to all 100 hidden neurons.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Hidden Layer Processing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hidden neuron computes: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every neuron has different weights and bias values: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Neuron 0 → produces one activation value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Neuron 1 → produces another activation value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Neuron 99 → produces another activation value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Although the inputs are the same, the outputs of the neurons differ because their weights are different.</a:t>
                </a:r>
              </a:p>
              <a:p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F32F46-1EBC-485D-FC98-B960F0185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72" y="678947"/>
                <a:ext cx="11802256" cy="6740307"/>
              </a:xfrm>
              <a:prstGeom prst="rect">
                <a:avLst/>
              </a:prstGeom>
              <a:blipFill>
                <a:blip r:embed="rId2"/>
                <a:stretch>
                  <a:fillRect l="-826" t="-7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655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AB82E-9F91-C6F4-463C-31DEDA6E0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550EB7-71D2-42C5-FB70-EB55ED6828DE}"/>
              </a:ext>
            </a:extLst>
          </p:cNvPr>
          <p:cNvCxnSpPr/>
          <p:nvPr/>
        </p:nvCxnSpPr>
        <p:spPr>
          <a:xfrm>
            <a:off x="0" y="559182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A532977-A697-097F-5EF5-BE43723D4F0B}"/>
              </a:ext>
            </a:extLst>
          </p:cNvPr>
          <p:cNvSpPr txBox="1"/>
          <p:nvPr/>
        </p:nvSpPr>
        <p:spPr>
          <a:xfrm>
            <a:off x="4484557" y="37635"/>
            <a:ext cx="5801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D391D-4CAC-190E-931E-CBCDA17C3C49}"/>
              </a:ext>
            </a:extLst>
          </p:cNvPr>
          <p:cNvSpPr txBox="1"/>
          <p:nvPr/>
        </p:nvSpPr>
        <p:spPr>
          <a:xfrm>
            <a:off x="194872" y="151179"/>
            <a:ext cx="1180225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Spike Generation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neuron compares its activation value with the threshold:</a:t>
            </a:r>
          </a:p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If activation &gt; Threshold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Spike = 1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Else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Spike = 0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43 neurons generated spikes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 neurons remained inactive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Spike Count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spikes from all 100 neurons are accumulated: Total Spike Count = Number of firing neurons = 43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 Seven-Segment Display = 43</a:t>
            </a:r>
          </a:p>
        </p:txBody>
      </p:sp>
    </p:spTree>
    <p:extLst>
      <p:ext uri="{BB962C8B-B14F-4D97-AF65-F5344CB8AC3E}">
        <p14:creationId xmlns:p14="http://schemas.microsoft.com/office/powerpoint/2010/main" val="2444376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DFB69-E963-3596-BC0F-ED697BD8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BB2F03-21D4-0E3C-6C19-B03BA53C47FE}"/>
              </a:ext>
            </a:extLst>
          </p:cNvPr>
          <p:cNvCxnSpPr/>
          <p:nvPr/>
        </p:nvCxnSpPr>
        <p:spPr>
          <a:xfrm>
            <a:off x="0" y="1608494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1468DFF-D744-8784-179E-0CC92F673AB8}"/>
              </a:ext>
            </a:extLst>
          </p:cNvPr>
          <p:cNvSpPr txBox="1"/>
          <p:nvPr/>
        </p:nvSpPr>
        <p:spPr>
          <a:xfrm>
            <a:off x="4574498" y="2224181"/>
            <a:ext cx="5801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DA6292-B959-5F11-ACD1-6A4EC3E7C955}"/>
              </a:ext>
            </a:extLst>
          </p:cNvPr>
          <p:cNvCxnSpPr/>
          <p:nvPr/>
        </p:nvCxnSpPr>
        <p:spPr>
          <a:xfrm>
            <a:off x="0" y="3406064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830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819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Design and FPGA Implementation of a 100-Neuron Spiking Neural Network Functionality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charunivethithas@gmail.com</dc:creator>
  <cp:lastModifiedBy>charunivethithas@gmail.com</cp:lastModifiedBy>
  <cp:revision>5</cp:revision>
  <dcterms:created xsi:type="dcterms:W3CDTF">2026-06-03T05:54:36Z</dcterms:created>
  <dcterms:modified xsi:type="dcterms:W3CDTF">2026-06-08T11:18:55Z</dcterms:modified>
</cp:coreProperties>
</file>